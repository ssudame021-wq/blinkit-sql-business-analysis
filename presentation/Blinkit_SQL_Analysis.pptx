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0647f86-4c4c-5bea-7bd9-604f9febb6f3}">
          <p14:sldIdLst>
            <p14:sldId id="256"/>
            <p14:sldId id="257"/>
          </p14:sldIdLst>
        </p14:section>
        <p14:section name="Growth" id="{5293852a-d363-72c0-5482-3080b8ed2a10}">
          <p14:sldIdLst>
            <p14:sldId id="258"/>
            <p14:sldId id="259"/>
            <p14:sldId id="260"/>
          </p14:sldIdLst>
        </p14:section>
        <p14:section name="Stores" id="{1cdb51c8-1b37-c3e7-48fc-af8c317c9a97}">
          <p14:sldIdLst>
            <p14:sldId id="261"/>
            <p14:sldId id="262"/>
          </p14:sldIdLst>
        </p14:section>
        <p14:section name="Customers" id="{d5d68f8a-6a89-ddfc-c336-2b118a4baf9e}">
          <p14:sldIdLst>
            <p14:sldId id="263"/>
            <p14:sldId id="264"/>
            <p14:sldId id="265"/>
            <p14:sldId id="266"/>
          </p14:sldIdLst>
        </p14:section>
        <p14:section name="Operations" id="{6c601d8b-2ab2-77c2-6182-a65e6a1e12e6}">
          <p14:sldIdLst>
            <p14:sldId id="267"/>
            <p14:sldId id="268"/>
            <p14:sldId id="269"/>
            <p14:sldId id="270"/>
            <p14:sldId id="271"/>
          </p14:sldIdLst>
        </p14:section>
        <p14:section name="Promotions" id="{5456126d-de42-0827-9b60-b2b475eda8aa}">
          <p14:sldIdLst>
            <p14:sldId id="272"/>
            <p14:sldId id="273"/>
          </p14:sldIdLst>
        </p14:section>
        <p14:section name="Retention and Risk" id="{6bec8932-0bb5-77f9-b5d7-ad1ce0fd55da}">
          <p14:sldIdLst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55448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92608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R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9.xml"/><Relationship Id="rId15" Type="http://schemas.openxmlformats.org/officeDocument/2006/relationships/slide" Target="slide10.xml"/><Relationship Id="rId16" Type="http://schemas.openxmlformats.org/officeDocument/2006/relationships/slide" Target="slide10.xml"/><Relationship Id="rId17" Type="http://schemas.openxmlformats.org/officeDocument/2006/relationships/slide" Target="slide11.xml"/><Relationship Id="rId18" Type="http://schemas.openxmlformats.org/officeDocument/2006/relationships/slide" Target="slide11.xml"/><Relationship Id="rId19" Type="http://schemas.openxmlformats.org/officeDocument/2006/relationships/slide" Target="slide12.xml"/><Relationship Id="rId20" Type="http://schemas.openxmlformats.org/officeDocument/2006/relationships/slide" Target="slide12.xml"/><Relationship Id="rId21" Type="http://schemas.openxmlformats.org/officeDocument/2006/relationships/slide" Target="slide13.xml"/><Relationship Id="rId22" Type="http://schemas.openxmlformats.org/officeDocument/2006/relationships/slide" Target="slide13.xml"/><Relationship Id="rId23" Type="http://schemas.openxmlformats.org/officeDocument/2006/relationships/slide" Target="slide14.xml"/><Relationship Id="rId24" Type="http://schemas.openxmlformats.org/officeDocument/2006/relationships/slide" Target="slide14.xml"/><Relationship Id="rId25" Type="http://schemas.openxmlformats.org/officeDocument/2006/relationships/slide" Target="slide15.xml"/><Relationship Id="rId26" Type="http://schemas.openxmlformats.org/officeDocument/2006/relationships/slide" Target="slide15.xml"/><Relationship Id="rId27" Type="http://schemas.openxmlformats.org/officeDocument/2006/relationships/slide" Target="slide16.xml"/><Relationship Id="rId28" Type="http://schemas.openxmlformats.org/officeDocument/2006/relationships/slide" Target="slide16.xml"/><Relationship Id="rId29" Type="http://schemas.openxmlformats.org/officeDocument/2006/relationships/slide" Target="slide17.xml"/><Relationship Id="rId30" Type="http://schemas.openxmlformats.org/officeDocument/2006/relationships/slide" Target="slide17.xml"/><Relationship Id="rId31" Type="http://schemas.openxmlformats.org/officeDocument/2006/relationships/slide" Target="slide18.xml"/><Relationship Id="rId32" Type="http://schemas.openxmlformats.org/officeDocument/2006/relationships/slide" Target="slide18.xml"/><Relationship Id="rId33" Type="http://schemas.openxmlformats.org/officeDocument/2006/relationships/slide" Target="slide19.xml"/><Relationship Id="rId34" Type="http://schemas.openxmlformats.org/officeDocument/2006/relationships/slide" Target="slide19.xml"/><Relationship Id="rId35" Type="http://schemas.openxmlformats.org/officeDocument/2006/relationships/slide" Target="slide20.xml"/><Relationship Id="rId36" Type="http://schemas.openxmlformats.org/officeDocument/2006/relationships/slide" Target="slide20.xml"/><Relationship Id="rId37" Type="http://schemas.openxmlformats.org/officeDocument/2006/relationships/slide" Target="slide21.xml"/><Relationship Id="rId38" Type="http://schemas.openxmlformats.org/officeDocument/2006/relationships/slide" Target="slide21.xml"/><Relationship Id="rId39" Type="http://schemas.openxmlformats.org/officeDocument/2006/relationships/slide" Target="slide22.xml"/><Relationship Id="rId40" Type="http://schemas.openxmlformats.org/officeDocument/2006/relationships/slide" Target="slide22.xml"/><Relationship Id="rId41" Type="http://schemas.openxmlformats.org/officeDocument/2006/relationships/slideLayout" Target="../slideLayouts/slideLayout3.xml"/><Relationship Id="rId4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1" Type="http://schemas.openxmlformats.org/officeDocument/2006/relationships/image" Target="../media/image-3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2.xml"/><Relationship Id="rId4" Type="http://schemas.openxmlformats.org/officeDocument/2006/relationships/slide" Target="slide5.xml"/><Relationship Id="rId1" Type="http://schemas.openxmlformats.org/officeDocument/2006/relationships/image" Target="../media/image-4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3" Type="http://schemas.openxmlformats.org/officeDocument/2006/relationships/slide" Target="slide2.xml"/><Relationship Id="rId4" Type="http://schemas.openxmlformats.org/officeDocument/2006/relationships/slide" Target="slide6.xml"/><Relationship Id="rId1" Type="http://schemas.openxmlformats.org/officeDocument/2006/relationships/image" Target="../media/image-5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3" Type="http://schemas.openxmlformats.org/officeDocument/2006/relationships/slide" Target="slide2.xml"/><Relationship Id="rId4" Type="http://schemas.openxmlformats.org/officeDocument/2006/relationships/slide" Target="slide7.xml"/><Relationship Id="rId1" Type="http://schemas.openxmlformats.org/officeDocument/2006/relationships/image" Target="../media/image-6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2.xml"/><Relationship Id="rId4" Type="http://schemas.openxmlformats.org/officeDocument/2006/relationships/slide" Target="slide8.xml"/><Relationship Id="rId1" Type="http://schemas.openxmlformats.org/officeDocument/2006/relationships/image" Target="../media/image-7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3" Type="http://schemas.openxmlformats.org/officeDocument/2006/relationships/slide" Target="slide2.xml"/><Relationship Id="rId4" Type="http://schemas.openxmlformats.org/officeDocument/2006/relationships/slide" Target="slide9.xml"/><Relationship Id="rId1" Type="http://schemas.openxmlformats.org/officeDocument/2006/relationships/image" Target="../media/image-8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3" Type="http://schemas.openxmlformats.org/officeDocument/2006/relationships/slide" Target="slide2.xml"/><Relationship Id="rId4" Type="http://schemas.openxmlformats.org/officeDocument/2006/relationships/slide" Target="slide10.xml"/><Relationship Id="rId1" Type="http://schemas.openxmlformats.org/officeDocument/2006/relationships/image" Target="../media/image-9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3" Type="http://schemas.openxmlformats.org/officeDocument/2006/relationships/slide" Target="slide2.xml"/><Relationship Id="rId4" Type="http://schemas.openxmlformats.org/officeDocument/2006/relationships/slide" Target="slide11.xml"/><Relationship Id="rId1" Type="http://schemas.openxmlformats.org/officeDocument/2006/relationships/image" Target="../media/image-10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3" Type="http://schemas.openxmlformats.org/officeDocument/2006/relationships/slide" Target="slide2.xml"/><Relationship Id="rId4" Type="http://schemas.openxmlformats.org/officeDocument/2006/relationships/slide" Target="slide12.xml"/><Relationship Id="rId1" Type="http://schemas.openxmlformats.org/officeDocument/2006/relationships/image" Target="../media/image-11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3" Type="http://schemas.openxmlformats.org/officeDocument/2006/relationships/slide" Target="slide2.xml"/><Relationship Id="rId4" Type="http://schemas.openxmlformats.org/officeDocument/2006/relationships/slide" Target="slide13.xml"/><Relationship Id="rId1" Type="http://schemas.openxmlformats.org/officeDocument/2006/relationships/image" Target="../media/image-1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3" Type="http://schemas.openxmlformats.org/officeDocument/2006/relationships/slide" Target="slide2.xml"/><Relationship Id="rId4" Type="http://schemas.openxmlformats.org/officeDocument/2006/relationships/slide" Target="slide14.xml"/><Relationship Id="rId1" Type="http://schemas.openxmlformats.org/officeDocument/2006/relationships/image" Target="../media/image-13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3" Type="http://schemas.openxmlformats.org/officeDocument/2006/relationships/slide" Target="slide2.xml"/><Relationship Id="rId4" Type="http://schemas.openxmlformats.org/officeDocument/2006/relationships/slide" Target="slide15.xml"/><Relationship Id="rId1" Type="http://schemas.openxmlformats.org/officeDocument/2006/relationships/image" Target="../media/image-14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3" Type="http://schemas.openxmlformats.org/officeDocument/2006/relationships/slide" Target="slide2.xml"/><Relationship Id="rId4" Type="http://schemas.openxmlformats.org/officeDocument/2006/relationships/slide" Target="slide16.xml"/><Relationship Id="rId1" Type="http://schemas.openxmlformats.org/officeDocument/2006/relationships/image" Target="../media/image-15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3" Type="http://schemas.openxmlformats.org/officeDocument/2006/relationships/slide" Target="slide2.xml"/><Relationship Id="rId4" Type="http://schemas.openxmlformats.org/officeDocument/2006/relationships/slide" Target="slide17.xml"/><Relationship Id="rId1" Type="http://schemas.openxmlformats.org/officeDocument/2006/relationships/image" Target="../media/image-16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3" Type="http://schemas.openxmlformats.org/officeDocument/2006/relationships/slide" Target="slide2.xml"/><Relationship Id="rId4" Type="http://schemas.openxmlformats.org/officeDocument/2006/relationships/slide" Target="slide18.xml"/><Relationship Id="rId1" Type="http://schemas.openxmlformats.org/officeDocument/2006/relationships/image" Target="../media/image-17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3" Type="http://schemas.openxmlformats.org/officeDocument/2006/relationships/slide" Target="slide2.xml"/><Relationship Id="rId4" Type="http://schemas.openxmlformats.org/officeDocument/2006/relationships/slide" Target="slide19.xml"/><Relationship Id="rId1" Type="http://schemas.openxmlformats.org/officeDocument/2006/relationships/image" Target="../media/image-18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3" Type="http://schemas.openxmlformats.org/officeDocument/2006/relationships/slide" Target="slide2.xml"/><Relationship Id="rId4" Type="http://schemas.openxmlformats.org/officeDocument/2006/relationships/slide" Target="slide20.xml"/><Relationship Id="rId1" Type="http://schemas.openxmlformats.org/officeDocument/2006/relationships/image" Target="../media/image-19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3" Type="http://schemas.openxmlformats.org/officeDocument/2006/relationships/slide" Target="slide2.xml"/><Relationship Id="rId4" Type="http://schemas.openxmlformats.org/officeDocument/2006/relationships/slide" Target="slide21.xml"/><Relationship Id="rId1" Type="http://schemas.openxmlformats.org/officeDocument/2006/relationships/image" Target="../media/image-20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3" Type="http://schemas.openxmlformats.org/officeDocument/2006/relationships/slide" Target="slide2.xml"/><Relationship Id="rId4" Type="http://schemas.openxmlformats.org/officeDocument/2006/relationships/slide" Target="slide22.xml"/><Relationship Id="rId1" Type="http://schemas.openxmlformats.org/officeDocument/2006/relationships/image" Target="../media/image-21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3" Type="http://schemas.openxmlformats.org/officeDocument/2006/relationships/slide" Target="slide2.xml"/><Relationship Id="rId4" Type="http://schemas.openxmlformats.org/officeDocument/2006/relationships/slide" Target="slide2.xml"/><Relationship Id="rId1" Type="http://schemas.openxmlformats.org/officeDocument/2006/relationships/image" Target="../media/image-2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554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Blinkit SQL Business Analysis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29260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20 SQL queries  |  Business problem, query, real output and business solution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Revenue • Customers • Stores • Delivery • Promotions • Retention</a:t>
            </a:r>
            <a:endParaRPr lang="en-US" sz="1800" dirty="0"/>
          </a:p>
        </p:txBody>
      </p:sp>
      <p:sp>
        <p:nvSpPr>
          <p:cNvPr id="4" name="start"/>
          <p:cNvSpPr/>
          <p:nvPr/>
        </p:nvSpPr>
        <p:spPr>
          <a:xfrm>
            <a:off x="731520" y="448056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1" action="ppaction://hlinksldjump" tooltip="Go to 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 ▶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Index: click any tile to jump to that query</a:t>
            </a:r>
            <a:endParaRPr lang="en-US" sz="2400" dirty="0"/>
          </a:p>
        </p:txBody>
      </p:sp>
      <p:sp>
        <p:nvSpPr>
          <p:cNvPr id="3" name="tile 1"/>
          <p:cNvSpPr/>
          <p:nvPr/>
        </p:nvSpPr>
        <p:spPr>
          <a:xfrm>
            <a:off x="365760" y="123444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1" action="ppaction://hlinksldjump" tooltip="Query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2" action="ppaction://hlinksldjump" tooltip="Query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Overall Business KPI Dashboard</a:t>
            </a:r>
            <a:endParaRPr lang="en-US" sz="1600" dirty="0"/>
          </a:p>
        </p:txBody>
      </p:sp>
      <p:sp>
        <p:nvSpPr>
          <p:cNvPr id="4" name="tile 2"/>
          <p:cNvSpPr/>
          <p:nvPr/>
        </p:nvSpPr>
        <p:spPr>
          <a:xfrm>
            <a:off x="2651760" y="123444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3" action="ppaction://hlinksldjump" tooltip="Query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4" action="ppaction://hlinksldjump" tooltip="Query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Year-over-Year Revenue &amp; Order Growth</a:t>
            </a:r>
            <a:endParaRPr lang="en-US" sz="1600" dirty="0"/>
          </a:p>
        </p:txBody>
      </p:sp>
      <p:sp>
        <p:nvSpPr>
          <p:cNvPr id="5" name="tile 3"/>
          <p:cNvSpPr/>
          <p:nvPr/>
        </p:nvSpPr>
        <p:spPr>
          <a:xfrm>
            <a:off x="4937760" y="123444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5" action="ppaction://hlinksldjump" tooltip="Query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6" action="ppaction://hlinksldjump" tooltip="Query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Monthly Revenue Trend &amp; Seasonal Performance</a:t>
            </a:r>
            <a:endParaRPr lang="en-US" sz="1600" dirty="0"/>
          </a:p>
        </p:txBody>
      </p:sp>
      <p:sp>
        <p:nvSpPr>
          <p:cNvPr id="6" name="tile 4"/>
          <p:cNvSpPr/>
          <p:nvPr/>
        </p:nvSpPr>
        <p:spPr>
          <a:xfrm>
            <a:off x="7223760" y="123444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7" action="ppaction://hlinksldjump" tooltip="Query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8" action="ppaction://hlinksldjump" tooltip="Query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Top 10 Stores by Revenue</a:t>
            </a:r>
            <a:endParaRPr lang="en-US" sz="1600" dirty="0"/>
          </a:p>
        </p:txBody>
      </p:sp>
      <p:sp>
        <p:nvSpPr>
          <p:cNvPr id="7" name="tile 5"/>
          <p:cNvSpPr/>
          <p:nvPr/>
        </p:nvSpPr>
        <p:spPr>
          <a:xfrm>
            <a:off x="9509760" y="123444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9" action="ppaction://hlinksldjump" tooltip="Query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10" action="ppaction://hlinksldjump" tooltip="Query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Store Performance Ranking Within Each City</a:t>
            </a:r>
            <a:endParaRPr lang="en-US" sz="1600" dirty="0"/>
          </a:p>
        </p:txBody>
      </p:sp>
      <p:sp>
        <p:nvSpPr>
          <p:cNvPr id="8" name="tile 6"/>
          <p:cNvSpPr/>
          <p:nvPr/>
        </p:nvSpPr>
        <p:spPr>
          <a:xfrm>
            <a:off x="365760" y="251460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11" action="ppaction://hlinksldjump" tooltip="Query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12" action="ppaction://hlinksldjump" tooltip="Query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Identify High-Value Customers</a:t>
            </a:r>
            <a:endParaRPr lang="en-US" sz="1600" dirty="0"/>
          </a:p>
        </p:txBody>
      </p:sp>
      <p:sp>
        <p:nvSpPr>
          <p:cNvPr id="9" name="tile 7"/>
          <p:cNvSpPr/>
          <p:nvPr/>
        </p:nvSpPr>
        <p:spPr>
          <a:xfrm>
            <a:off x="2651760" y="251460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13" action="ppaction://hlinksldjump" tooltip="Query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14" action="ppaction://hlinksldjump" tooltip="Query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Customer Tier Performance</a:t>
            </a:r>
            <a:endParaRPr lang="en-US" sz="1600" dirty="0"/>
          </a:p>
        </p:txBody>
      </p:sp>
      <p:sp>
        <p:nvSpPr>
          <p:cNvPr id="10" name="tile 8"/>
          <p:cNvSpPr/>
          <p:nvPr/>
        </p:nvSpPr>
        <p:spPr>
          <a:xfrm>
            <a:off x="4937760" y="251460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15" action="ppaction://hlinksldjump" tooltip="Query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08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16" action="ppaction://hlinksldjump" tooltip="Query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Reorder Rate by Customer Tier</a:t>
            </a:r>
            <a:endParaRPr lang="en-US" sz="1600" dirty="0"/>
          </a:p>
        </p:txBody>
      </p:sp>
      <p:sp>
        <p:nvSpPr>
          <p:cNvPr id="11" name="tile 9"/>
          <p:cNvSpPr/>
          <p:nvPr/>
        </p:nvSpPr>
        <p:spPr>
          <a:xfrm>
            <a:off x="7223760" y="251460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17" action="ppaction://hlinksldjump" tooltip="Query 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18" action="ppaction://hlinksldjump" tooltip="Query 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First-Time vs Repeat Customer Revenue</a:t>
            </a:r>
            <a:endParaRPr lang="en-US" sz="1600" dirty="0"/>
          </a:p>
        </p:txBody>
      </p:sp>
      <p:sp>
        <p:nvSpPr>
          <p:cNvPr id="12" name="tile 10"/>
          <p:cNvSpPr/>
          <p:nvPr/>
        </p:nvSpPr>
        <p:spPr>
          <a:xfrm>
            <a:off x="9509760" y="251460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19" action="ppaction://hlinksldjump" tooltip="Query 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20" action="ppaction://hlinksldjump" tooltip="Query 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Cancellation &amp; Return Rate by Store</a:t>
            </a:r>
            <a:endParaRPr lang="en-US" sz="1600" dirty="0"/>
          </a:p>
        </p:txBody>
      </p:sp>
      <p:sp>
        <p:nvSpPr>
          <p:cNvPr id="13" name="tile 11"/>
          <p:cNvSpPr/>
          <p:nvPr/>
        </p:nvSpPr>
        <p:spPr>
          <a:xfrm>
            <a:off x="365760" y="379476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21" action="ppaction://hlinksldjump" tooltip="Query 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22" action="ppaction://hlinksldjump" tooltip="Query 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Reasons Behind Cancellations/Returns</a:t>
            </a:r>
            <a:endParaRPr lang="en-US" sz="1600" dirty="0"/>
          </a:p>
        </p:txBody>
      </p:sp>
      <p:sp>
        <p:nvSpPr>
          <p:cNvPr id="14" name="tile 12"/>
          <p:cNvSpPr/>
          <p:nvPr/>
        </p:nvSpPr>
        <p:spPr>
          <a:xfrm>
            <a:off x="2651760" y="379476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23" action="ppaction://hlinksldjump" tooltip="Query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24" action="ppaction://hlinksldjump" tooltip="Query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Delivery Slot vs Customer Satisfaction</a:t>
            </a:r>
            <a:endParaRPr lang="en-US" sz="1600" dirty="0"/>
          </a:p>
        </p:txBody>
      </p:sp>
      <p:sp>
        <p:nvSpPr>
          <p:cNvPr id="15" name="tile 13"/>
          <p:cNvSpPr/>
          <p:nvPr/>
        </p:nvSpPr>
        <p:spPr>
          <a:xfrm>
            <a:off x="4937760" y="379476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25" action="ppaction://hlinksldjump" tooltip="Query 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13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26" action="ppaction://hlinksldjump" tooltip="Query 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Express Eligibility vs Actual Delivery Performance</a:t>
            </a:r>
            <a:endParaRPr lang="en-US" sz="1600" dirty="0"/>
          </a:p>
        </p:txBody>
      </p:sp>
      <p:sp>
        <p:nvSpPr>
          <p:cNvPr id="16" name="tile 14"/>
          <p:cNvSpPr/>
          <p:nvPr/>
        </p:nvSpPr>
        <p:spPr>
          <a:xfrm>
            <a:off x="7223760" y="379476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27" action="ppaction://hlinksldjump" tooltip="Query 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28" action="ppaction://hlinksldjump" tooltip="Query 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Stores with Poor Delivery Efficiency</a:t>
            </a:r>
            <a:endParaRPr lang="en-US" sz="1600" dirty="0"/>
          </a:p>
        </p:txBody>
      </p:sp>
      <p:sp>
        <p:nvSpPr>
          <p:cNvPr id="17" name="tile 15"/>
          <p:cNvSpPr/>
          <p:nvPr/>
        </p:nvSpPr>
        <p:spPr>
          <a:xfrm>
            <a:off x="9509760" y="379476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29" action="ppaction://hlinksldjump" tooltip="Query 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30" action="ppaction://hlinksldjump" tooltip="Query 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Promotion Effectiveness</a:t>
            </a:r>
            <a:endParaRPr lang="en-US" sz="1600" dirty="0"/>
          </a:p>
        </p:txBody>
      </p:sp>
      <p:sp>
        <p:nvSpPr>
          <p:cNvPr id="18" name="tile 16"/>
          <p:cNvSpPr/>
          <p:nvPr/>
        </p:nvSpPr>
        <p:spPr>
          <a:xfrm>
            <a:off x="365760" y="507492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31" action="ppaction://hlinksldjump" tooltip="Query 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16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32" action="ppaction://hlinksldjump" tooltip="Query 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Rank Promo Codes by Revenue Contribution</a:t>
            </a:r>
            <a:endParaRPr lang="en-US" sz="1600" dirty="0"/>
          </a:p>
        </p:txBody>
      </p:sp>
      <p:sp>
        <p:nvSpPr>
          <p:cNvPr id="19" name="tile 17"/>
          <p:cNvSpPr/>
          <p:nvPr/>
        </p:nvSpPr>
        <p:spPr>
          <a:xfrm>
            <a:off x="2651760" y="507492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33" action="ppaction://hlinksldjump" tooltip="Query 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17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34" action="ppaction://hlinksldjump" tooltip="Query 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Customer Cohort / Retention Analysis</a:t>
            </a:r>
            <a:endParaRPr lang="en-US" sz="1600" dirty="0"/>
          </a:p>
        </p:txBody>
      </p:sp>
      <p:sp>
        <p:nvSpPr>
          <p:cNvPr id="20" name="tile 18"/>
          <p:cNvSpPr/>
          <p:nvPr/>
        </p:nvSpPr>
        <p:spPr>
          <a:xfrm>
            <a:off x="4937760" y="507492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35" action="ppaction://hlinksldjump" tooltip="Query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36" action="ppaction://hlinksldjump" tooltip="Query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Customers at Risk of Churn</a:t>
            </a:r>
            <a:endParaRPr lang="en-US" sz="1600" dirty="0"/>
          </a:p>
        </p:txBody>
      </p:sp>
      <p:sp>
        <p:nvSpPr>
          <p:cNvPr id="21" name="tile 19"/>
          <p:cNvSpPr/>
          <p:nvPr/>
        </p:nvSpPr>
        <p:spPr>
          <a:xfrm>
            <a:off x="7223760" y="507492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37" action="ppaction://hlinksldjump" tooltip="Query 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38" action="ppaction://hlinksldjump" tooltip="Query 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Revenue Concentration</a:t>
            </a:r>
            <a:endParaRPr lang="en-US" sz="1600" dirty="0"/>
          </a:p>
        </p:txBody>
      </p:sp>
      <p:sp>
        <p:nvSpPr>
          <p:cNvPr id="22" name="tile 20"/>
          <p:cNvSpPr/>
          <p:nvPr/>
        </p:nvSpPr>
        <p:spPr>
          <a:xfrm>
            <a:off x="9509760" y="5074920"/>
            <a:ext cx="21488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39" action="ppaction://hlinksldjump" tooltip="Query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  </a:t>
            </a:r>
            <a:pPr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40" action="ppaction://hlinksldjump" tooltip="Query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Operational Risk Score for Stores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1. Overall Business KPI Dashboard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01/20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How is the business doing overall? One quick scorecard for management.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total_orders, COUNT(DISTINCT user_id) AS total_customers,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SUM(grand_total) AS total_revenue, ROUND(AVG(grand_total), 2) AS avg_order_value,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ROUND(AVG(total_qty), 2) AS avg_items_per_order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blinkit_orders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order_status = 'Delivered';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1: Overall Business KPI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768319"/>
            <a:ext cx="5669280" cy="145852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Scorecard: 36.8 lakh delivered orders, 7.41 lakh customers, ₹375 Cr revenue, AOV ₹1,019 and about 7 items per basket. This is the baseline every other query is compared against. Track it monthly: a fall in AOV or items per order warns us before revenue falls.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2. Year-over-Year Revenue &amp; Order Growth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02/20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Is Blinkit growing every year, or slowing down?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yearly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order_year, COUNT(*) AS total_orders, SUM(grand_total) AS revenue,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AVG(grand_total) AS avg_order_value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blinkit_orders WHERE order_status = 'Delivered'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 BY order_year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order_year, total_orders, ROUND(revenue,2) AS revenue,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ROUND(avg_order_value,2) AS avg_order_value,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ROUND((revenue-LAG(revenue) OVER(ORDER BY order_year)) 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NULLIF(LAG(revenue) OVER(ORDER BY order_year),0)*100,2) AS revenue_growth_pct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yearly ORDER BY order_year;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2: Year-over-Year Revenue &amp; Order Grow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631218"/>
            <a:ext cx="5669280" cy="17327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Revenue grew from ₹30.9 Cr (2022) to ₹151 Cr (2025) and AOV rose every year (₹739 to ₹1,256), so growth came from more orders and bigger baskets. 2026 (−45.7%) appears to be a partial year; compare it only with the same months of 2025. Action: keep investing in basket-building.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3. Monthly Revenue Trend &amp; Seasonal Performance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03/20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Which months sell the most, and when do sales dip?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monthly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order_year, order_month, order_month_name, COUNT(*) AS total_orders,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SUM(grand_total) AS revenue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blinkit_orders WHERE order_status = 'Delivered'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 BY order_year, order_month, order_month_name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order_year, order_month, order_month_name, total_orders, ROUND(revenue,2) AS revenue,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ROUND((revenue-LAG(revenue) OVER(ORDER BY order_year,order_month)) 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NULLIF(LAG(revenue) OVER(ORDER BY order_year,order_month),0)*100,2) AS mom_growth_pct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monthly ORDER BY order_year, order_month;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3: Monthly Revenue Trend &amp; Seasonal Perform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606693"/>
            <a:ext cx="5669280" cy="178177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monthly view shows the rhythm, e.g. early 2022 dips 5.2% in Feb then jumps 14.7% in Mar. Use peaks to plan stock, riders and offers in advance, and dips to schedule campaigns. Next step: chart the same month across years to separate true seasonality from overall growth.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4. Top 10 Stores by Revenue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04/20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Which stores earn us the most money?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store_id, store_city, store_zone, COUNT(*) AS total_orders,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ROUND(SUM(grand_total),2) AS total_revenue, ROUND(AVG(grand_total),2) AS avg_order_value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blinkit_orders WHERE order_status = 'Delivered'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store_id, store_city, store_zone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total_revenue DESC LIMIT 10;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4: Top 10 Stores by Reven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355850"/>
            <a:ext cx="5669280" cy="22834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Mumbai's six core stores (DS0001–DS0006) each bring ₹4.3–4.4 Cr at a near-identical AOV of about ₹980, so revenue is spread evenly, not carried by one store. Action: copy the Mumbai playbook (zones, stock, staffing) to weaker cities and protect these stores from stock-outs.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5. Store Performance Ranking Within Each City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05/20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Inside each city, which stores are the stars and which are lagging?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store_performance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store_city, store_id, COUNT(*) AS total_orders, SUM(grand_total) AS revenue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blinkit_orders WHERE order_status = 'Delivered'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 BY store_city, store_id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store_city, store_id, total_orders, ROUND(revenue,2) AS revenue,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RANK() OVER(PARTITION BY store_city ORDER BY revenue DESC) AS city_rank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store_performance ORDER BY store_city, city_rank;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5: Store Performance Ranking Within Each C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3733" y="2148840"/>
            <a:ext cx="5594773" cy="2697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 Ahmedabad, four stores (DS0073–DS0076) earn about ₹1.8 Cr each, more than double the rest (₹0.8 Cr). Ranking inside a city is fair, because a small city's best store is not judged against Mumbai. Action: study what the top four do differently and fix or merge the bottom stores.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6. Identify High-Value Customers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06/20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Who are our biggest spenders?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customer_spend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user_id, user_tier, COUNT(*) AS total_orders, SUM(grand_total) AS total_spend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blinkit_orders WHERE order_status = 'Delivered'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 BY user_id, user_tier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user_id, user_tier, total_orders, ROUND(total_spend,2) AS total_spend,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CASE WHEN total_spend &gt;= 50000 THEN 'VIP'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WHEN total_spend &gt;= 25000 THEN 'High Value'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WHEN total_spend &gt;= 10000 THEN 'Medium Value'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'Low Value' END AS customer_segment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customer_spend ORDER BY total_spend DESC;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6: Identify High-Value Custom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196875"/>
            <a:ext cx="5669280" cy="260141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Top spenders reach ₹25–27K lifetime spend and are mostly Bronze or Silver members, so loyalty tier does not match real spending. Nobody crosses the ₹50K VIP bar, so that threshold needs resetting. Action: reward by spend (early access, free-delivery thresholds, priority support).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7. Customer Tier Performance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07/20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Do Gold and Platinum members really buy more than Bronze members?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user_tier, COUNT(DISTINCT user_id) AS customers, COUNT(*) AS total_orders,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ROUND(SUM(grand_total),2) AS revenue, ROUND(AVG(grand_total),2) AS avg_order_value,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ROUND(COUNT(*)*1.0/COUNT(DISTINCT user_id),2) AS orders_per_customer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blinkit_orders WHERE order_status = 'Delivered'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user_tier ORDER BY revenue DESC;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7: Customer Tier Perform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751813"/>
            <a:ext cx="5669280" cy="149153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Platinum customers spend a little more per order (₹1,053 vs ₹999 for Bronze) but order less often (1.64 vs 2.64 orders per customer). Tiers lift basket size, not frequency. Action: tie tier benefits to frequency, such as streak rewards, so higher tiers also order more.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8. Reorder Rate by Customer Tier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08/20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Which member group comes back to reorder the most?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user_tier, COUNT(*) AS total_orders, SUM(is_reorder) AS reorder_orders,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ROUND(SUM(is_reorder)*100.0/COUNT(*),2) AS reorder_rate_pct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blinkit_orders GROUP BY user_tier ORDER BY reorder_rate_pct DESC;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8: Reorder Rate by Customer T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573051"/>
            <a:ext cx="5669280" cy="184905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Reorder rates are almost flat, from 63.7% (Bronze) to 65.1% (Platinum), so tiers are not creating extra repeat behaviour. About two of every three orders are reorders in every tier. Action: test one-tap 'buy again' and staples reminders instead of relying on tiers.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9. First-Time vs Repeat Customer Revenue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09/20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Does our money come from new customers or from people who keep coming back?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CASE WHEN is_first_order=1 THEN 'First Order' ELSE 'Repeat Order' END AS customer_type,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total_orders, COUNT(DISTINCT user_id) AS customers,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ROUND(SUM(grand_total),2) AS revenue, ROUND(AVG(grand_total),2) AS avg_order_value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blinkit_orders WHERE order_status='Delivered' GROUP BY customer_type;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9: First-Time vs Repeat Customer Reven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764844"/>
            <a:ext cx="5669280" cy="146547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Repeat orders bring ₹367 Cr of the ₹375 Cr total, with a higher AOV (₹1,020 vs ₹993 for first orders). The business runs on repeat buyers, so retention is worth more than acquisition. Action: move part of the new-user budget to habit-building and win-back.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10. Cancellation &amp; Return Rate by Store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10/20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Which stores lose the most orders to cancellations and returns?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store_id, store_city, COUNT(*) AS total_orders,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SUM(CASE WHEN order_status&lt;&gt;'Delivered' THEN 1 ELSE 0 END) AS failed_orders,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ROUND(SUM(CASE WHEN order_status&lt;&gt;'Delivered' THEN 1 ELSE 0 END)*100.0/COUNT(*),2) AS failure_rate_pct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blinkit_orders GROUP BY store_id, store_city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COUNT(*)&gt;=100 ORDER BY failure_rate_pct DESC;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10: Cancellation &amp; Return Rate by 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262996"/>
            <a:ext cx="5669280" cy="2469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Failure rates sit in a narrow 7.0–7.5% band; Hyderabad's DS0035 and Kolkata's DS0049/DS0050 are highest at about 7.5%. No store is wildly off, so the fix is process, not closures. Action: audit these stores for stock accuracy, rider availability and packing checks.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11. Reasons Behind Cancellations/Returns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11/20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Why do orders fail? What are customers and stores telling us?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cancellation_return_reason, COUNT(*) AS affected_orders,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ROUND(COUNT(*)*100.0/SUM(COUNT(*)) OVER(),2) AS percentage_of_failed_orders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blinkit_orders WHERE order_status&lt;&gt;'Delivered'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cancellation_return_reason ORDER BY affected_orders DESC;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11: Reasons Behind Cancellations/Retur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220435"/>
            <a:ext cx="5669280" cy="255429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Reasons are evenly spread (7–7.7% each), led by price issue, changed mind, item unavailable and late delivery. Items unavailable, late, wrong, expired and poor-quality orders are in our control and add up to about 36% of failed orders. Action: fix inventory accuracy and delivery time first.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12. Delivery Slot vs Customer Satisfaction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12/20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Does a faster delivery slot make customers happier?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delivery_slot, COUNT(*) AS total_orders,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ROUND(AVG(delivery_time_mins),2) AS avg_delivery_time,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ROUND(AVG(order_rating),2) AS avg_rating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blinkit_orders WHERE order_status='Delivered'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delivery_slot ORDER BY avg_delivery_time;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12: Delivery Slot vs Customer Satisf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151572"/>
            <a:ext cx="5669280" cy="269201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Faster slots earn better ratings: 8-min Turbo scores 4.43 against 4.31 for Scheduled PM (about 71 min). 10-min Express carries the most orders (14.1 lakh) at 9.6 min. Action: grow Express and Turbo where stores can hold the promise; keep scheduled slots for planned bulk baskets.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13. Express Eligibility vs Actual Delivery Performance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13/20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Is the Express promise really delivering faster?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is_express_eligible, COUNT(*) AS total_orders,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ROUND(AVG(delivery_time_mins),2) AS avg_delivery_time,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ROUND(AVG(order_rating),2) AS avg_rating,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ROUND(AVG(grand_total),2) AS avg_order_value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blinkit_orders WHERE order_status='Delivered'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is_express_eligible;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13: Express Eligibility vs Actual Delivery Perform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768319"/>
            <a:ext cx="5669280" cy="145852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Express-eligible orders arrive in 10.7 min vs 30.8 min, rate slightly higher (4.37 vs 4.33) and have a bigger basket (₹1,057 vs ₹965). Express is working. Action: widen the express-eligible catalogue and areas, because about 41% of orders are still not eligible.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14. Stores with Poor Delivery Efficiency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14/20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Which busy stores are also slow?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store_metrics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store_id, store_city, COUNT(*) AS total_orders,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AVG(delivery_time_mins) AS avg_delivery_time, AVG(order_rating) AS avg_rating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blinkit_orders WHERE order_status='Delivered' GROUP BY store_id, store_city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ranked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*, NTILE(4) OVER(ORDER BY total_orders) AS volume_quartile,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NTILE(4) OVER(ORDER BY avg_delivery_time) AS delivery_quartile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store_metrics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store_id, store_city, total_orders, ROUND(avg_delivery_time,2) AS avg_delivery_time,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ROUND(avg_rating,2) AS avg_rating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ranked WHERE volume_quartile=4 AND delivery_quartile=4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avg_delivery_time DESC;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14: Stores with Poor Delivery Efficien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270444"/>
            <a:ext cx="5669280" cy="245427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Stores such as DS0039 (Hyderabad) and DS0028 (Bengaluru) handle heavy volume but take 24+ min per order, with ratings near 4.2. Busy and slow is exactly where customers feel the pain. Action: add pickers and riders at peak, rebalance zones and review store layout here first.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15. Promotion Effectiveness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15/20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Do discounts bring in better orders, or just cost us money?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CASE WHEN promo_code='Not used' OR promo_code IS NULL THEN 'No Promotion'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'Promotion Used' END AS promo_status,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total_orders, ROUND(AVG(grand_total),2) AS avg_order_value,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ROUND(AVG(promo_discount),2) AS avg_promo_discount, ROUND(AVG(total_qty),2) AS avg_items,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ROUND(SUM(grand_total),2) AS total_revenue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blinkit_orders WHERE order_status='Delivered' GROUP BY promo_status;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15: Promotion Effectiven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918007"/>
            <a:ext cx="5669280" cy="115914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Promo orders have a lower AOV (₹971 vs ₹1,087) and a ₹155 average discount, yet total revenue is higher (₹208 Cr vs ₹167 Cr) because more orders come with offers. Action: keep promotions but add minimum basket values so discounts push AOV up, not down.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16. Rank Promo Codes by Revenue Contribution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16/20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Which promo codes earn the most, and which cost the most?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promo_data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promo_code, COUNT(*) AS orders, SUM(grand_total) AS revenue,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SUM(promo_discount) AS total_discount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blinkit_orders WHERE order_status='Delivered'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promo_code&lt;&gt;'Not used' AND promo_code IS NOT NULL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 BY promo_code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promo_code, orders, ROUND(revenue,2) AS revenue, ROUND(total_discount,2) AS total_discount,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ROUND(revenue*100.0/SUM(revenue) OVER(),2) AS revenue_contribution_pct,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RANK() OVER(ORDER BY revenue DESC) AS revenue_rank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promo_data ORDER BY revenue_rank;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16: Rank Promo Codes by Revenue Contrib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418266"/>
            <a:ext cx="5669280" cy="21586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UPIOFF leads with 12.9% of revenue at a low discount cost (₹2.3 Cr), while SAVE20 and FESTIVE25 cost far more (₹4.1 Cr and ₹3.9 Cr) for less revenue. Action: rank codes by revenue per rupee of discount, scale UPIOFF-style codes and cap or trim the expensive ones.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17. Customer Cohort / Retention Analysis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17/20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Do customers keep coming back month after month?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customer_first_order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user_id, MIN(order_date) AS first_order_date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blinkit_orders WHERE order_status='Delivered' GROUP BY user_id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customer_orders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DISTINCT o.user_id, DATE_FORMAT(f.first_order_date,'%Y-%m') AS cohort_month,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TIMESTAMPDIFF(MONTH,f.first_order_date,o.order_date) AS months_since_first_order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blinkit_orders o JOIN customer_first_order f ON o.user_id=f.user_id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o.order_status='Delivered'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cohort_month, months_since_first_order, COUNT(DISTINCT user_id) AS active_customers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customer_orders GROUP BY cohort_month, months_since_first_order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cohort_month, months_since_first_order;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17: Customer Cohort / Retention Analys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4514" y="2148840"/>
            <a:ext cx="4953212" cy="2697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This table is the base for a retention heatmap: the Jan-2022 cohort starts at 10,923 customers and about 1,100–1,300 (10–12%) are active in each later month. Data note: a '0000-00' cohort (4.3 lakh rows) comes from missing first-order dates; clean it first. Action: build a % retention view.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18. Customers at Risk of Churn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18/20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Which good customers have gone quiet?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customer_activity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user_id, COUNT(*) AS total_orders, MAX(order_date) AS last_order_date,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SUM(grand_total) AS lifetime_value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blinkit_orders WHERE order_status='Delivered' GROUP BY user_id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overall AS (SELECT MAX(order_date) AS latest_date FROM blinkit_orders)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c.user_id, c.total_orders, c.last_order_date,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DATEDIFF(o.latest_date,c.last_order_date) AS days_since_last_order,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ROUND(c.lifetime_value,2) AS lifetime_value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customer_activity c CROSS JOIN overall 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c.total_orders&gt;=5 AND DATEDIFF(o.latest_date,c.last_order_date)&gt;=60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lifetime_value DESC;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18: Customers at Risk of Chu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247803"/>
            <a:ext cx="5669280" cy="249955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Frequent customers with 8–19 orders have been silent for 64–108 days and hold ₹27–32K lifetime value each. They already like the product, so win-back is cheaper than acquiring new users. Action: send personalised offers and reminders, starting with the highest lifetime value.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19. Revenue Concentration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19/20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Are we too dependent on a few big customers?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customer_revenue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user_id, SUM(grand_total) AS revenue FROM blinkit_orders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order_status='Delivered' GROUP BY user_id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ranked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user_id, revenue,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SUM(revenue) OVER(ORDER BY revenue DESC ROWS BETWEEN UNBOUNDED PRECEDING AND CURRENT ROW) AS cumulative_revenue,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SUM(revenue) OVER() AS total_revenue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customer_revenue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user_id, ROUND(revenue,2) AS revenue,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ROUND(cumulative_revenue*100.0/total_revenue,2) AS cumulative_revenue_pct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ranked ORDER BY revenue DESC;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19: Revenue Concen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4868" y="2148840"/>
            <a:ext cx="4032504" cy="2697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Even the biggest customers contribute only 0.00–0.01% each to cumulative revenue, so revenue is widely spread and dependency on any single customer is very low, which is healthy. Action: still track the top 1% share over time, and focus growth on the broad base.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" y="91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20. Operational Risk Score for Stores</a:t>
            </a:r>
            <a:endParaRPr lang="en-US" sz="2400" dirty="0"/>
          </a:p>
        </p:txBody>
      </p:sp>
      <p:sp>
        <p:nvSpPr>
          <p:cNvPr id="3" name="counter"/>
          <p:cNvSpPr/>
          <p:nvPr/>
        </p:nvSpPr>
        <p:spPr>
          <a:xfrm>
            <a:off x="10515600" y="228600"/>
            <a:ext cx="128016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20/20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problem"/>
          <p:cNvSpPr txBox="1"/>
          <p:nvPr/>
        </p:nvSpPr>
        <p:spPr>
          <a:xfrm>
            <a:off x="54864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BUSINESS PROBLEM  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Which stores need attention first when we combine failures, speed and ratings?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QUERY</a:t>
            </a:r>
            <a:endParaRPr lang="en-US" sz="1100" dirty="0"/>
          </a:p>
        </p:txBody>
      </p:sp>
      <p:sp>
        <p:nvSpPr>
          <p:cNvPr id="7" name="sql"/>
          <p:cNvSpPr/>
          <p:nvPr/>
        </p:nvSpPr>
        <p:spPr>
          <a:xfrm>
            <a:off x="365760" y="2148840"/>
            <a:ext cx="5486400" cy="26974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store_metrics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store_id, store_city, COUNT(*) AS total_orders,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SUM(CASE WHEN order_status&lt;&gt;'Delivered' THEN 1 ELSE 0 END) AS failed_orders,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AVG(CASE WHEN order_status='Delivered' THEN delivery_time_mins END) AS avg_delivery_time,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AVG(CASE WHEN order_status='Delivered' THEN order_rating END) AS avg_rating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blinkit_orders GROUP BY store_id, store_city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scored AS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*, NTILE(4) OVER(ORDER BY total_orders) AS volume_score,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NTILE(4) OVER(ORDER BY failed_orders*1.0/NULLIF(total_orders,0)) AS failure_score,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NTILE(4) OVER(ORDER BY avg_delivery_time) AS delivery_score,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NTILE(4) OVER(ORDER BY avg_rating DESC) AS rating_score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store_metrics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store_id, store_city, total_orders,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ROUND(failed_orders*100.0/NULLIF(total_orders,0),2) AS failure_rate_pct,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ROUND(avg_delivery_time,2) AS avg_delivery_time, ROUND(avg_rating,2) AS avg_rating,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(volume_score+failure_score+delivery_score+rating_score) AS operational_risk_score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scored WHERE total_orders&gt;=100 ORDER BY operational_risk_score DESC;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QUERY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669280" cy="26974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Image 0" descr="Output of query 20: Operational Risk Score for Sto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478227"/>
            <a:ext cx="5669280" cy="203870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4983480"/>
            <a:ext cx="73152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olution"/>
          <p:cNvSpPr txBox="1"/>
          <p:nvPr/>
        </p:nvSpPr>
        <p:spPr>
          <a:xfrm>
            <a:off x="59436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BUSINESS SOLUTION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One risk score combines failures, speed and ratings. Large stores such as DS0018 (Delhi) and DS0034 (Bengaluru), with 40K+ orders each, rank at the top with about 5.2% failures and 20.5 min delivery. Their size means small slips hurt many customers. Action: fix these first. All show score 16, so use volume as the tie-break.</a:t>
            </a:r>
            <a:endParaRPr lang="en-US" sz="1100" dirty="0"/>
          </a:p>
        </p:txBody>
      </p:sp>
      <p:sp>
        <p:nvSpPr>
          <p:cNvPr id="14" name="nav ◀ Prev"/>
          <p:cNvSpPr/>
          <p:nvPr/>
        </p:nvSpPr>
        <p:spPr>
          <a:xfrm>
            <a:off x="36576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2" action="ppaction://hlinksldjump" tooltip="Previo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Prev</a:t>
            </a:r>
            <a:endParaRPr lang="en-US" sz="1100" dirty="0"/>
          </a:p>
        </p:txBody>
      </p:sp>
      <p:sp>
        <p:nvSpPr>
          <p:cNvPr id="15" name="nav Index"/>
          <p:cNvSpPr/>
          <p:nvPr/>
        </p:nvSpPr>
        <p:spPr>
          <a:xfrm>
            <a:off x="160020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3" action="ppaction://hlinksldjump" tooltip="Inde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1100" dirty="0"/>
          </a:p>
        </p:txBody>
      </p:sp>
      <p:sp>
        <p:nvSpPr>
          <p:cNvPr id="16" name="nav Next ▶"/>
          <p:cNvSpPr/>
          <p:nvPr/>
        </p:nvSpPr>
        <p:spPr>
          <a:xfrm>
            <a:off x="2834640" y="6464808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hlinkClick r:id="rId4" action="ppaction://hlinksldjump" tooltip="N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inkit Interactive">
  <a:themeElements>
    <a:clrScheme name="Blinkit Interactive">
      <a:dk1>
        <a:srgbClr val="1A1A1A"/>
      </a:dk1>
      <a:lt1>
        <a:srgbClr val="FFFFFF"/>
      </a:lt1>
      <a:dk2>
        <a:srgbClr val="0B3D1E"/>
      </a:dk2>
      <a:lt2>
        <a:srgbClr val="FFF6D1"/>
      </a:lt2>
      <a:accent1>
        <a:srgbClr val="F8CB46"/>
      </a:accent1>
      <a:accent2>
        <a:srgbClr val="0C831F"/>
      </a:accent2>
      <a:accent3>
        <a:srgbClr val="D6303E"/>
      </a:accent3>
      <a:accent4>
        <a:srgbClr val="2D6CDF"/>
      </a:accent4>
      <a:accent5>
        <a:srgbClr val="7A4DD8"/>
      </a:accent5>
      <a:accent6>
        <a:srgbClr val="E8851C"/>
      </a:accent6>
      <a:hlink>
        <a:srgbClr val="0B3D1E"/>
      </a:hlink>
      <a:folHlink>
        <a:srgbClr val="0B3D1E"/>
      </a:folHlink>
    </a:clrScheme>
    <a:fontScheme name="Blinkit Interactiv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Blinkit SQL Business Analysis</dc:title>
  <dc:subject>PptxGenJS Presentation</dc:subject>
  <dc:creator>PptxGenJS</dc:creator>
  <cp:lastModifiedBy>PptxGenJS</cp:lastModifiedBy>
  <cp:revision>1</cp:revision>
  <dcterms:created xsi:type="dcterms:W3CDTF">2026-10-12T14:11:56Z</dcterms:created>
  <dcterms:modified xsi:type="dcterms:W3CDTF">2026-10-12T14:11:56Z</dcterms:modified>
</cp:coreProperties>
</file>